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C7DE46-9753-4825-B5ED-2E17D86C8314}" type="datetimeFigureOut">
              <a:rPr lang="en-US" smtClean="0"/>
              <a:t>10/9/2022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131501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C7DE46-9753-4825-B5ED-2E17D86C8314}" type="datetimeFigureOut">
              <a:rPr lang="en-US" smtClean="0"/>
              <a:t>10/9/2022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797357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1C7DE46-9753-4825-B5ED-2E17D86C8314}" type="datetimeFigureOut">
              <a:rPr lang="en-US" smtClean="0"/>
              <a:t>10/9/2022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1339029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C7DE46-9753-4825-B5ED-2E17D86C8314}" type="datetimeFigureOut">
              <a:rPr lang="en-US" smtClean="0"/>
              <a:t>10/9/2022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376361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C7DE46-9753-4825-B5ED-2E17D86C8314}" type="datetimeFigureOut">
              <a:rPr lang="en-US" smtClean="0"/>
              <a:t>10/9/2022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1949169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C7DE46-9753-4825-B5ED-2E17D86C8314}" type="datetimeFigureOut">
              <a:rPr lang="en-US" smtClean="0"/>
              <a:t>10/9/2022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3042422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7DE46-9753-4825-B5ED-2E17D86C8314}" type="datetimeFigureOut">
              <a:rPr lang="en-US" smtClean="0"/>
              <a:t>10/9/2022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3538165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C7DE46-9753-4825-B5ED-2E17D86C8314}" type="datetimeFigureOut">
              <a:rPr lang="en-US" smtClean="0"/>
              <a:t>10/9/2022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186709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C7DE46-9753-4825-B5ED-2E17D86C8314}" type="datetimeFigureOut">
              <a:rPr lang="en-US" smtClean="0"/>
              <a:t>10/9/2022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62076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C7DE46-9753-4825-B5ED-2E17D86C8314}" type="datetimeFigureOut">
              <a:rPr lang="en-US" smtClean="0"/>
              <a:t>10/9/2022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1322905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C7DE46-9753-4825-B5ED-2E17D86C8314}" type="datetimeFigureOut">
              <a:rPr lang="en-US" smtClean="0"/>
              <a:t>10/9/2022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818366-ABEA-437C-B629-FE3B30676BC1}" type="slidenum">
              <a:rPr lang="en-US" smtClean="0"/>
              <a:t>‹#›</a:t>
            </a:fld>
            <a:endParaRPr lang="en-US"/>
          </a:p>
        </p:txBody>
      </p:sp>
    </p:spTree>
    <p:extLst>
      <p:ext uri="{BB962C8B-B14F-4D97-AF65-F5344CB8AC3E}">
        <p14:creationId xmlns:p14="http://schemas.microsoft.com/office/powerpoint/2010/main" val="177289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C7DE46-9753-4825-B5ED-2E17D86C8314}" type="datetimeFigureOut">
              <a:rPr lang="en-US" smtClean="0"/>
              <a:t>10/9/2022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818366-ABEA-437C-B629-FE3B30676BC1}" type="slidenum">
              <a:rPr lang="en-US" smtClean="0"/>
              <a:t>‹#›</a:t>
            </a:fld>
            <a:endParaRPr lang="en-US"/>
          </a:p>
        </p:txBody>
      </p:sp>
    </p:spTree>
    <p:extLst>
      <p:ext uri="{BB962C8B-B14F-4D97-AF65-F5344CB8AC3E}">
        <p14:creationId xmlns:p14="http://schemas.microsoft.com/office/powerpoint/2010/main" val="3499213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7105" y="1122363"/>
            <a:ext cx="10508776" cy="1457064"/>
          </a:xfrm>
        </p:spPr>
        <p:txBody>
          <a:bodyPr>
            <a:normAutofit fontScale="90000"/>
          </a:bodyPr>
          <a:lstStyle/>
          <a:p>
            <a:r>
              <a:rPr lang="en-US" sz="4400" b="1" dirty="0"/>
              <a:t>Methods in Linguistic Anthropology</a:t>
            </a:r>
            <a:r>
              <a:rPr lang="en-US" dirty="0"/>
              <a:t/>
            </a:r>
            <a:br>
              <a:rPr lang="en-US" dirty="0"/>
            </a:br>
            <a:endParaRPr lang="en-US" dirty="0"/>
          </a:p>
        </p:txBody>
      </p:sp>
      <p:sp>
        <p:nvSpPr>
          <p:cNvPr id="3" name="Subtitle 2"/>
          <p:cNvSpPr>
            <a:spLocks noGrp="1"/>
          </p:cNvSpPr>
          <p:nvPr>
            <p:ph type="subTitle" idx="1"/>
          </p:nvPr>
        </p:nvSpPr>
        <p:spPr>
          <a:xfrm>
            <a:off x="887105" y="2415654"/>
            <a:ext cx="10508776" cy="3998794"/>
          </a:xfrm>
        </p:spPr>
        <p:txBody>
          <a:bodyPr/>
          <a:lstStyle/>
          <a:p>
            <a:pPr marL="342900" lvl="0" indent="-342900" algn="l">
              <a:buFont typeface="Arial" panose="020B0604020202020204" pitchFamily="34" charset="0"/>
              <a:buChar char="•"/>
            </a:pPr>
            <a:r>
              <a:rPr lang="en-US" dirty="0"/>
              <a:t>Linguistic anthropologists use traditional ethnographic methods such as </a:t>
            </a:r>
            <a:r>
              <a:rPr lang="en-US" dirty="0" smtClean="0"/>
              <a:t>participant-Observation</a:t>
            </a:r>
            <a:endParaRPr lang="en-US" dirty="0"/>
          </a:p>
          <a:p>
            <a:pPr lvl="0" algn="l"/>
            <a:r>
              <a:rPr lang="en-US" i="1" dirty="0"/>
              <a:t>What is ethnography</a:t>
            </a:r>
            <a:r>
              <a:rPr lang="en-US" dirty="0"/>
              <a:t>?</a:t>
            </a:r>
          </a:p>
          <a:p>
            <a:pPr marL="342900" lvl="0" indent="-342900" algn="l">
              <a:buFont typeface="Arial" panose="020B0604020202020204" pitchFamily="34" charset="0"/>
              <a:buChar char="•"/>
            </a:pPr>
            <a:r>
              <a:rPr lang="en-US" dirty="0"/>
              <a:t>An ethnography is the written description of the social organization, social activities, symbolic and material resources, and interpretive practices characteristic of a particular group of people.</a:t>
            </a:r>
          </a:p>
          <a:p>
            <a:pPr marL="342900" lvl="0" indent="-342900" algn="l">
              <a:buFont typeface="Arial" panose="020B0604020202020204" pitchFamily="34" charset="0"/>
              <a:buChar char="•"/>
            </a:pPr>
            <a:r>
              <a:rPr lang="en-US" dirty="0"/>
              <a:t>‘Objectivity’</a:t>
            </a:r>
          </a:p>
          <a:p>
            <a:pPr marL="342900" lvl="0" indent="-342900" algn="l">
              <a:buFont typeface="Arial" panose="020B0604020202020204" pitchFamily="34" charset="0"/>
              <a:buChar char="•"/>
            </a:pPr>
            <a:r>
              <a:rPr lang="en-US" dirty="0"/>
              <a:t>‘Emic’ point of view/ ‘Etic’</a:t>
            </a:r>
          </a:p>
          <a:p>
            <a:r>
              <a:rPr lang="en-US" dirty="0" smtClean="0"/>
              <a:t>   </a:t>
            </a:r>
            <a:endParaRPr lang="en-US" dirty="0"/>
          </a:p>
        </p:txBody>
      </p:sp>
    </p:spTree>
    <p:extLst>
      <p:ext uri="{BB962C8B-B14F-4D97-AF65-F5344CB8AC3E}">
        <p14:creationId xmlns:p14="http://schemas.microsoft.com/office/powerpoint/2010/main" val="39793341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Methods in Linguistic Anthropology</a:t>
            </a:r>
            <a:endParaRPr lang="en-US" dirty="0"/>
          </a:p>
        </p:txBody>
      </p:sp>
      <p:sp>
        <p:nvSpPr>
          <p:cNvPr id="3" name="Content Placeholder 2"/>
          <p:cNvSpPr>
            <a:spLocks noGrp="1"/>
          </p:cNvSpPr>
          <p:nvPr>
            <p:ph idx="1"/>
          </p:nvPr>
        </p:nvSpPr>
        <p:spPr>
          <a:xfrm>
            <a:off x="838200" y="2402005"/>
            <a:ext cx="10515600" cy="3774957"/>
          </a:xfrm>
        </p:spPr>
        <p:txBody>
          <a:bodyPr/>
          <a:lstStyle/>
          <a:p>
            <a:pPr lvl="0"/>
            <a:r>
              <a:rPr lang="en-US" dirty="0"/>
              <a:t>The problems of ‘objectivity’ in ethnographic research</a:t>
            </a:r>
          </a:p>
          <a:p>
            <a:pPr lvl="0"/>
            <a:r>
              <a:rPr lang="en-US" dirty="0"/>
              <a:t>Geertz (1983) adopted the psychoanalytic contrast between “</a:t>
            </a:r>
            <a:r>
              <a:rPr lang="en-US" u="sng" dirty="0"/>
              <a:t>experience-near</a:t>
            </a:r>
            <a:r>
              <a:rPr lang="en-US" dirty="0"/>
              <a:t>” and “</a:t>
            </a:r>
            <a:r>
              <a:rPr lang="en-US" u="sng" dirty="0"/>
              <a:t>experience-distant</a:t>
            </a:r>
            <a:r>
              <a:rPr lang="en-US" dirty="0"/>
              <a:t>” to illustrate this point.</a:t>
            </a:r>
          </a:p>
          <a:p>
            <a:pPr lvl="0"/>
            <a:r>
              <a:rPr lang="en-US" dirty="0"/>
              <a:t>A successful ethnography - the researcher establishes a dialogue between different viewpoints and voices.</a:t>
            </a:r>
          </a:p>
          <a:p>
            <a:pPr lvl="0"/>
            <a:r>
              <a:rPr lang="en-US" dirty="0"/>
              <a:t>Dennis </a:t>
            </a:r>
            <a:r>
              <a:rPr lang="en-US" dirty="0" err="1"/>
              <a:t>Tedlock</a:t>
            </a:r>
            <a:r>
              <a:rPr lang="en-US" dirty="0"/>
              <a:t> (1983)- the fact that most of what we learn in the field is the product of live dialogue – between ourselves and the “natives”.</a:t>
            </a:r>
          </a:p>
          <a:p>
            <a:pPr marL="0" indent="0">
              <a:buNone/>
            </a:pPr>
            <a:endParaRPr lang="en-US" dirty="0"/>
          </a:p>
        </p:txBody>
      </p:sp>
    </p:spTree>
    <p:extLst>
      <p:ext uri="{BB962C8B-B14F-4D97-AF65-F5344CB8AC3E}">
        <p14:creationId xmlns:p14="http://schemas.microsoft.com/office/powerpoint/2010/main" val="2839468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Methods in Linguistic Anthropology</a:t>
            </a:r>
            <a:endParaRPr lang="en-US" dirty="0"/>
          </a:p>
        </p:txBody>
      </p:sp>
      <p:sp>
        <p:nvSpPr>
          <p:cNvPr id="3" name="Content Placeholder 2"/>
          <p:cNvSpPr>
            <a:spLocks noGrp="1"/>
          </p:cNvSpPr>
          <p:nvPr>
            <p:ph idx="1"/>
          </p:nvPr>
        </p:nvSpPr>
        <p:spPr>
          <a:xfrm>
            <a:off x="838200" y="2388357"/>
            <a:ext cx="10515600" cy="3788605"/>
          </a:xfrm>
        </p:spPr>
        <p:txBody>
          <a:bodyPr/>
          <a:lstStyle/>
          <a:p>
            <a:pPr lvl="0"/>
            <a:r>
              <a:rPr lang="en-US" dirty="0"/>
              <a:t>The need for </a:t>
            </a:r>
            <a:r>
              <a:rPr lang="en-US" b="1" dirty="0"/>
              <a:t>dialogical anthropology, instead of analogical anthropology – dialogical anthropology </a:t>
            </a:r>
            <a:r>
              <a:rPr lang="en-US" dirty="0"/>
              <a:t>promotes native talk to the position of prominence so as to give readers more direct access to how members represent. (</a:t>
            </a:r>
            <a:r>
              <a:rPr lang="en-US" dirty="0" err="1"/>
              <a:t>Tedlock</a:t>
            </a:r>
            <a:r>
              <a:rPr lang="en-US" dirty="0"/>
              <a:t>, 1983)</a:t>
            </a:r>
          </a:p>
          <a:p>
            <a:pPr lvl="0"/>
            <a:r>
              <a:rPr lang="en-US" dirty="0"/>
              <a:t>The practice of </a:t>
            </a:r>
            <a:r>
              <a:rPr lang="en-US" b="1" dirty="0"/>
              <a:t>transcription</a:t>
            </a:r>
            <a:endParaRPr lang="en-US" dirty="0"/>
          </a:p>
          <a:p>
            <a:pPr marL="0" indent="0">
              <a:buNone/>
            </a:pPr>
            <a:endParaRPr lang="en-US" dirty="0"/>
          </a:p>
          <a:p>
            <a:pPr lvl="0"/>
            <a:r>
              <a:rPr lang="en-US" i="1" dirty="0"/>
              <a:t>Studying people in the community</a:t>
            </a:r>
            <a:endParaRPr lang="en-US" dirty="0"/>
          </a:p>
          <a:p>
            <a:r>
              <a:rPr lang="en-US" dirty="0"/>
              <a:t>A “community” must be sustained by systematic observations.</a:t>
            </a:r>
          </a:p>
        </p:txBody>
      </p:sp>
    </p:spTree>
    <p:extLst>
      <p:ext uri="{BB962C8B-B14F-4D97-AF65-F5344CB8AC3E}">
        <p14:creationId xmlns:p14="http://schemas.microsoft.com/office/powerpoint/2010/main" val="3760246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Methods in Linguistic Anthropology</a:t>
            </a:r>
            <a:endParaRPr lang="en-US" dirty="0"/>
          </a:p>
        </p:txBody>
      </p:sp>
      <p:sp>
        <p:nvSpPr>
          <p:cNvPr id="3" name="Content Placeholder 2"/>
          <p:cNvSpPr>
            <a:spLocks noGrp="1"/>
          </p:cNvSpPr>
          <p:nvPr>
            <p:ph idx="1"/>
          </p:nvPr>
        </p:nvSpPr>
        <p:spPr>
          <a:xfrm>
            <a:off x="838200" y="2183641"/>
            <a:ext cx="10515600" cy="3993321"/>
          </a:xfrm>
        </p:spPr>
        <p:txBody>
          <a:bodyPr/>
          <a:lstStyle/>
          <a:p>
            <a:pPr lvl="0"/>
            <a:r>
              <a:rPr lang="en-US" dirty="0"/>
              <a:t>(</a:t>
            </a:r>
            <a:r>
              <a:rPr lang="en-US" dirty="0" err="1"/>
              <a:t>i</a:t>
            </a:r>
            <a:r>
              <a:rPr lang="en-US" dirty="0"/>
              <a:t>) commonalities among the members of the group, (ii) certain shared or mutually intelligible habits, (iii) social activities, (iv) ways of interacting and interpreting social acts.</a:t>
            </a:r>
          </a:p>
          <a:p>
            <a:pPr lvl="0"/>
            <a:r>
              <a:rPr lang="en-US" dirty="0"/>
              <a:t>Language is of course an important indication of membership - variation in linguistic patterns such as a frequent switching between languages, dialects, or registers.</a:t>
            </a:r>
          </a:p>
          <a:p>
            <a:pPr lvl="0"/>
            <a:r>
              <a:rPr lang="en-US" dirty="0"/>
              <a:t>Ethnographers are still in constant search for </a:t>
            </a:r>
            <a:r>
              <a:rPr lang="en-US" b="1" dirty="0"/>
              <a:t>patterns</a:t>
            </a:r>
            <a:r>
              <a:rPr lang="en-US" dirty="0"/>
              <a:t>, - people’s behaviors, descriptions, interpretive procedures, uses of natural resources, and production and handling of tools and artifacts.</a:t>
            </a:r>
          </a:p>
          <a:p>
            <a:pPr marL="0" indent="0">
              <a:buNone/>
            </a:pPr>
            <a:endParaRPr lang="en-US" dirty="0"/>
          </a:p>
        </p:txBody>
      </p:sp>
    </p:spTree>
    <p:extLst>
      <p:ext uri="{BB962C8B-B14F-4D97-AF65-F5344CB8AC3E}">
        <p14:creationId xmlns:p14="http://schemas.microsoft.com/office/powerpoint/2010/main" val="18767336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Methods in Linguistic Anthropology</a:t>
            </a:r>
            <a:endParaRPr lang="en-US" dirty="0"/>
          </a:p>
        </p:txBody>
      </p:sp>
      <p:sp>
        <p:nvSpPr>
          <p:cNvPr id="3" name="Content Placeholder 2"/>
          <p:cNvSpPr>
            <a:spLocks noGrp="1"/>
          </p:cNvSpPr>
          <p:nvPr>
            <p:ph idx="1"/>
          </p:nvPr>
        </p:nvSpPr>
        <p:spPr/>
        <p:txBody>
          <a:bodyPr>
            <a:normAutofit lnSpcReduction="10000"/>
          </a:bodyPr>
          <a:lstStyle/>
          <a:p>
            <a:pPr lvl="0"/>
            <a:r>
              <a:rPr lang="en-US" dirty="0"/>
              <a:t>Theoretical preferences.</a:t>
            </a:r>
          </a:p>
          <a:p>
            <a:pPr lvl="0"/>
            <a:r>
              <a:rPr lang="en-US" dirty="0"/>
              <a:t>Wallace’s (1961) suggestion, that a culture is an organization of diversity.</a:t>
            </a:r>
          </a:p>
          <a:p>
            <a:pPr lvl="0"/>
            <a:r>
              <a:rPr lang="en-US" dirty="0"/>
              <a:t>ethnographers live for an extended period of time with the people whose way of life they want to understand, watching them work, eat, play, talk, laugh, cry, be angry, sad, happy, satisfied, frustrated.</a:t>
            </a:r>
          </a:p>
          <a:p>
            <a:pPr lvl="0"/>
            <a:r>
              <a:rPr lang="en-US" dirty="0"/>
              <a:t>Observation</a:t>
            </a:r>
          </a:p>
          <a:p>
            <a:r>
              <a:rPr lang="en-US" dirty="0"/>
              <a:t>Participant Observation (a building stone of anthropology’s contribution to our understanding of human cultures (Malinowski 1935, vol. 2: 3–4</a:t>
            </a:r>
            <a:r>
              <a:rPr lang="en-US" dirty="0" smtClean="0"/>
              <a:t>). </a:t>
            </a:r>
            <a:endParaRPr lang="en-US" dirty="0"/>
          </a:p>
        </p:txBody>
      </p:sp>
    </p:spTree>
    <p:extLst>
      <p:ext uri="{BB962C8B-B14F-4D97-AF65-F5344CB8AC3E}">
        <p14:creationId xmlns:p14="http://schemas.microsoft.com/office/powerpoint/2010/main" val="38170549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44559"/>
          </a:xfrm>
        </p:spPr>
        <p:txBody>
          <a:bodyPr>
            <a:noAutofit/>
          </a:bodyPr>
          <a:lstStyle/>
          <a:p>
            <a:pPr algn="ctr"/>
            <a:r>
              <a:rPr lang="en-US" sz="3600" b="1" dirty="0"/>
              <a:t>Methods in Linguistic Anthropology</a:t>
            </a:r>
            <a:endParaRPr lang="en-US" sz="3600" dirty="0"/>
          </a:p>
        </p:txBody>
      </p:sp>
      <p:sp>
        <p:nvSpPr>
          <p:cNvPr id="3" name="Content Placeholder 2"/>
          <p:cNvSpPr>
            <a:spLocks noGrp="1"/>
          </p:cNvSpPr>
          <p:nvPr>
            <p:ph idx="1"/>
          </p:nvPr>
        </p:nvSpPr>
        <p:spPr>
          <a:xfrm>
            <a:off x="259307" y="900752"/>
            <a:ext cx="11477767" cy="5773003"/>
          </a:xfrm>
        </p:spPr>
        <p:txBody>
          <a:bodyPr>
            <a:normAutofit fontScale="92500" lnSpcReduction="10000"/>
          </a:bodyPr>
          <a:lstStyle/>
          <a:p>
            <a:pPr lvl="0"/>
            <a:r>
              <a:rPr lang="en-US" i="1" dirty="0"/>
              <a:t>Ethnographers are interested in:</a:t>
            </a:r>
            <a:endParaRPr lang="en-US" dirty="0"/>
          </a:p>
          <a:p>
            <a:pPr marL="0" indent="0">
              <a:buNone/>
            </a:pPr>
            <a:r>
              <a:rPr lang="en-US" dirty="0"/>
              <a:t>– what people do in their daily lives (e.g. the activities they engage in, how they are organized, by whom and for whom)</a:t>
            </a:r>
          </a:p>
          <a:p>
            <a:pPr marL="0" indent="0">
              <a:buNone/>
            </a:pPr>
            <a:r>
              <a:rPr lang="en-US" dirty="0"/>
              <a:t>– what they make and use (artifacts)</a:t>
            </a:r>
          </a:p>
          <a:p>
            <a:pPr marL="0" indent="0">
              <a:buNone/>
            </a:pPr>
            <a:r>
              <a:rPr lang="en-US" dirty="0"/>
              <a:t>– who controls access to goods (land products) and technologies</a:t>
            </a:r>
          </a:p>
          <a:p>
            <a:pPr marL="0" indent="0">
              <a:buNone/>
            </a:pPr>
            <a:r>
              <a:rPr lang="en-US" dirty="0"/>
              <a:t>– what people know, think, feel</a:t>
            </a:r>
          </a:p>
          <a:p>
            <a:pPr marL="0" indent="0">
              <a:buNone/>
            </a:pPr>
            <a:r>
              <a:rPr lang="en-US" dirty="0"/>
              <a:t>– how they communicate with one another</a:t>
            </a:r>
          </a:p>
          <a:p>
            <a:pPr marL="0" indent="0">
              <a:buNone/>
            </a:pPr>
            <a:r>
              <a:rPr lang="en-US" dirty="0"/>
              <a:t>– how they make decisions (e.g. what is right or wrong, what is permissible, what is strange, unusual, what is true)</a:t>
            </a:r>
          </a:p>
          <a:p>
            <a:pPr marL="0" indent="0">
              <a:buNone/>
            </a:pPr>
            <a:r>
              <a:rPr lang="en-US" dirty="0"/>
              <a:t>– how they classify objects, animals, people, natural and cultural phenomena</a:t>
            </a:r>
          </a:p>
          <a:p>
            <a:pPr marL="0" indent="0">
              <a:buNone/>
            </a:pPr>
            <a:r>
              <a:rPr lang="en-US" dirty="0"/>
              <a:t>– how the division of labor is organized (across genders, ages, social classes, ranks, etc.)</a:t>
            </a:r>
          </a:p>
          <a:p>
            <a:pPr marL="0" indent="0">
              <a:buNone/>
            </a:pPr>
            <a:r>
              <a:rPr lang="en-US" dirty="0"/>
              <a:t>– how the life of the family/household is organized, etc.</a:t>
            </a:r>
          </a:p>
          <a:p>
            <a:pPr marL="0" indent="0">
              <a:buNone/>
            </a:pPr>
            <a:endParaRPr lang="en-US" dirty="0"/>
          </a:p>
        </p:txBody>
      </p:sp>
    </p:spTree>
    <p:extLst>
      <p:ext uri="{BB962C8B-B14F-4D97-AF65-F5344CB8AC3E}">
        <p14:creationId xmlns:p14="http://schemas.microsoft.com/office/powerpoint/2010/main" val="41584019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8457"/>
          </a:xfrm>
        </p:spPr>
        <p:txBody>
          <a:bodyPr>
            <a:normAutofit fontScale="90000"/>
          </a:bodyPr>
          <a:lstStyle/>
          <a:p>
            <a:pPr algn="ctr"/>
            <a:r>
              <a:rPr lang="en-US" b="1" dirty="0"/>
              <a:t>Methods in Linguistic Anthropology</a:t>
            </a:r>
            <a:endParaRPr lang="en-US" dirty="0"/>
          </a:p>
        </p:txBody>
      </p:sp>
      <p:sp>
        <p:nvSpPr>
          <p:cNvPr id="3" name="Content Placeholder 2"/>
          <p:cNvSpPr>
            <a:spLocks noGrp="1"/>
          </p:cNvSpPr>
          <p:nvPr>
            <p:ph idx="1"/>
          </p:nvPr>
        </p:nvSpPr>
        <p:spPr>
          <a:xfrm>
            <a:off x="838200" y="1446662"/>
            <a:ext cx="10515600" cy="5199797"/>
          </a:xfrm>
        </p:spPr>
        <p:txBody>
          <a:bodyPr>
            <a:normAutofit/>
          </a:bodyPr>
          <a:lstStyle/>
          <a:p>
            <a:pPr lvl="0"/>
            <a:r>
              <a:rPr lang="en-US" dirty="0"/>
              <a:t>The </a:t>
            </a:r>
            <a:r>
              <a:rPr lang="en-US" b="1" dirty="0"/>
              <a:t>constitution of society and culture</a:t>
            </a:r>
            <a:endParaRPr lang="en-US" dirty="0"/>
          </a:p>
          <a:p>
            <a:pPr lvl="0"/>
            <a:r>
              <a:rPr lang="en-US" dirty="0"/>
              <a:t>how is social order constituted (created, managed, reproduced),</a:t>
            </a:r>
          </a:p>
          <a:p>
            <a:pPr lvl="0"/>
            <a:r>
              <a:rPr lang="en-US" dirty="0"/>
              <a:t>how do individuals make sense of their way of living,</a:t>
            </a:r>
          </a:p>
          <a:p>
            <a:pPr marL="0" indent="0">
              <a:buNone/>
            </a:pPr>
            <a:endParaRPr lang="en-US" dirty="0"/>
          </a:p>
          <a:p>
            <a:pPr lvl="0"/>
            <a:r>
              <a:rPr lang="en-US" i="1" dirty="0"/>
              <a:t>Ethnographers as cultural mediators</a:t>
            </a:r>
            <a:endParaRPr lang="en-US" dirty="0"/>
          </a:p>
          <a:p>
            <a:pPr lvl="0"/>
            <a:r>
              <a:rPr lang="en-US" b="1" dirty="0"/>
              <a:t>Cultural mediators </a:t>
            </a:r>
            <a:r>
              <a:rPr lang="en-US" dirty="0"/>
              <a:t>between two traditions: </a:t>
            </a:r>
            <a:r>
              <a:rPr lang="en-US" dirty="0" err="1"/>
              <a:t>i</a:t>
            </a:r>
            <a:r>
              <a:rPr lang="en-US" dirty="0"/>
              <a:t>) particular theoretical orientation, ii) people’s understanding on how they should be studied.</a:t>
            </a:r>
          </a:p>
          <a:p>
            <a:pPr lvl="0"/>
            <a:r>
              <a:rPr lang="en-US" b="1" dirty="0"/>
              <a:t>Where to sit (or stand) and where to be present.</a:t>
            </a:r>
            <a:endParaRPr lang="en-US" dirty="0"/>
          </a:p>
          <a:p>
            <a:pPr lvl="0"/>
            <a:r>
              <a:rPr lang="en-US" b="1" dirty="0"/>
              <a:t>People’s strong ideas about outsider/guest/visitor</a:t>
            </a:r>
            <a:endParaRPr lang="en-US" dirty="0"/>
          </a:p>
          <a:p>
            <a:pPr marL="0" indent="0">
              <a:buNone/>
            </a:pPr>
            <a:endParaRPr lang="en-US" dirty="0"/>
          </a:p>
        </p:txBody>
      </p:sp>
    </p:spTree>
    <p:extLst>
      <p:ext uri="{BB962C8B-B14F-4D97-AF65-F5344CB8AC3E}">
        <p14:creationId xmlns:p14="http://schemas.microsoft.com/office/powerpoint/2010/main" val="20584249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4684"/>
          </a:xfrm>
        </p:spPr>
        <p:txBody>
          <a:bodyPr>
            <a:noAutofit/>
          </a:bodyPr>
          <a:lstStyle/>
          <a:p>
            <a:pPr algn="ctr"/>
            <a:r>
              <a:rPr lang="en-US" sz="3600" b="1" dirty="0"/>
              <a:t>Methods in Linguistic Anthropology</a:t>
            </a:r>
            <a:endParaRPr lang="en-US" sz="3600" dirty="0"/>
          </a:p>
        </p:txBody>
      </p:sp>
      <p:sp>
        <p:nvSpPr>
          <p:cNvPr id="3" name="Content Placeholder 2"/>
          <p:cNvSpPr>
            <a:spLocks noGrp="1"/>
          </p:cNvSpPr>
          <p:nvPr>
            <p:ph idx="1"/>
          </p:nvPr>
        </p:nvSpPr>
        <p:spPr>
          <a:xfrm>
            <a:off x="838200" y="1132764"/>
            <a:ext cx="10912522" cy="5540991"/>
          </a:xfrm>
        </p:spPr>
        <p:txBody>
          <a:bodyPr>
            <a:normAutofit/>
          </a:bodyPr>
          <a:lstStyle/>
          <a:p>
            <a:pPr lvl="0"/>
            <a:r>
              <a:rPr lang="en-US" dirty="0"/>
              <a:t>Fieldwork is nothing but a long series of negotiations and compromises between our expectations and standards and those of our hosts. </a:t>
            </a:r>
          </a:p>
          <a:p>
            <a:pPr lvl="0"/>
            <a:r>
              <a:rPr lang="en-US" dirty="0"/>
              <a:t>The process of ethnography always involves ways of learning from the people one studies (</a:t>
            </a:r>
            <a:r>
              <a:rPr lang="en-US" dirty="0" err="1"/>
              <a:t>Spradley</a:t>
            </a:r>
            <a:r>
              <a:rPr lang="en-US" dirty="0"/>
              <a:t> 1980: 1).</a:t>
            </a:r>
          </a:p>
          <a:p>
            <a:pPr lvl="0"/>
            <a:r>
              <a:rPr lang="en-US" dirty="0"/>
              <a:t>The ethnographer’s strategy “to grasp the native’s point of view, his relation to life, to realize </a:t>
            </a:r>
            <a:r>
              <a:rPr lang="en-US" i="1" dirty="0"/>
              <a:t>his </a:t>
            </a:r>
            <a:r>
              <a:rPr lang="en-US" dirty="0"/>
              <a:t>vision of </a:t>
            </a:r>
            <a:r>
              <a:rPr lang="en-US" i="1" dirty="0"/>
              <a:t>his </a:t>
            </a:r>
            <a:r>
              <a:rPr lang="en-US" dirty="0"/>
              <a:t>world,” (Malinowski, 1922)</a:t>
            </a:r>
          </a:p>
          <a:p>
            <a:pPr lvl="0"/>
            <a:r>
              <a:rPr lang="en-US" dirty="0"/>
              <a:t>Ethnographers have an awareness of professional goals that projects them beyond the here-and-now and into the realm of academic writing and professional quests.</a:t>
            </a:r>
          </a:p>
          <a:p>
            <a:pPr lvl="0"/>
            <a:r>
              <a:rPr lang="en-US" dirty="0"/>
              <a:t>No matter how “close” or “distant” ethnographers act, feel, or think, their interpretations as well as their actions are always embedded in larger processes and more complex dialogues.</a:t>
            </a:r>
          </a:p>
          <a:p>
            <a:pPr marL="0" indent="0">
              <a:buNone/>
            </a:pPr>
            <a:endParaRPr lang="en-US" dirty="0"/>
          </a:p>
        </p:txBody>
      </p:sp>
    </p:spTree>
    <p:extLst>
      <p:ext uri="{BB962C8B-B14F-4D97-AF65-F5344CB8AC3E}">
        <p14:creationId xmlns:p14="http://schemas.microsoft.com/office/powerpoint/2010/main" val="34738985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0093"/>
          </a:xfrm>
        </p:spPr>
        <p:txBody>
          <a:bodyPr>
            <a:normAutofit fontScale="90000"/>
          </a:bodyPr>
          <a:lstStyle/>
          <a:p>
            <a:pPr algn="ctr"/>
            <a:r>
              <a:rPr lang="en-US" b="1" dirty="0"/>
              <a:t>Methods in Linguistic Anthropology</a:t>
            </a:r>
            <a:endParaRPr lang="en-US" dirty="0"/>
          </a:p>
        </p:txBody>
      </p:sp>
      <p:sp>
        <p:nvSpPr>
          <p:cNvPr id="3" name="Content Placeholder 2"/>
          <p:cNvSpPr>
            <a:spLocks noGrp="1"/>
          </p:cNvSpPr>
          <p:nvPr>
            <p:ph idx="1"/>
          </p:nvPr>
        </p:nvSpPr>
        <p:spPr>
          <a:xfrm>
            <a:off x="838200" y="1201003"/>
            <a:ext cx="10515600" cy="4975960"/>
          </a:xfrm>
        </p:spPr>
        <p:txBody>
          <a:bodyPr>
            <a:normAutofit fontScale="85000" lnSpcReduction="20000"/>
          </a:bodyPr>
          <a:lstStyle/>
          <a:p>
            <a:pPr lvl="0"/>
            <a:r>
              <a:rPr lang="en-US" dirty="0"/>
              <a:t>Linguistic anthropologists’ contribution to - its goals, conditions, and outcomes - with their voices and their bodies, to tell the stories they normally tell in their daily life.</a:t>
            </a:r>
          </a:p>
          <a:p>
            <a:pPr marL="0" indent="0">
              <a:buNone/>
            </a:pPr>
            <a:endParaRPr lang="en-US" dirty="0"/>
          </a:p>
          <a:p>
            <a:pPr lvl="0"/>
            <a:r>
              <a:rPr lang="en-US" i="1" dirty="0"/>
              <a:t>Complementarity and collaboration in ethnographic research</a:t>
            </a:r>
            <a:endParaRPr lang="en-US" dirty="0"/>
          </a:p>
          <a:p>
            <a:pPr marL="0" indent="0">
              <a:buNone/>
            </a:pPr>
            <a:endParaRPr lang="en-US" dirty="0"/>
          </a:p>
          <a:p>
            <a:pPr lvl="0"/>
            <a:r>
              <a:rPr lang="en-US" dirty="0"/>
              <a:t>The ethnographer had one or two years to become acquainted with the language spoken in the community.</a:t>
            </a:r>
          </a:p>
          <a:p>
            <a:pPr marL="0" indent="0">
              <a:buNone/>
            </a:pPr>
            <a:endParaRPr lang="en-US" dirty="0"/>
          </a:p>
          <a:p>
            <a:pPr lvl="0"/>
            <a:r>
              <a:rPr lang="en-US" dirty="0"/>
              <a:t>Describe every possible aspect of social life and material and symbolic culture he or she could document. </a:t>
            </a:r>
          </a:p>
          <a:p>
            <a:pPr marL="0" indent="0">
              <a:buNone/>
            </a:pPr>
            <a:endParaRPr lang="en-US" dirty="0"/>
          </a:p>
          <a:p>
            <a:pPr lvl="0"/>
            <a:r>
              <a:rPr lang="en-US" dirty="0"/>
              <a:t>Ethnographers could not do without it (language)- it is the important instrument to understand the social organization, the kinship system, and, in some cases, the interpretation of myths and legends.</a:t>
            </a:r>
          </a:p>
          <a:p>
            <a:pPr marL="0" indent="0">
              <a:buNone/>
            </a:pPr>
            <a:endParaRPr lang="en-US" dirty="0"/>
          </a:p>
        </p:txBody>
      </p:sp>
    </p:spTree>
    <p:extLst>
      <p:ext uri="{BB962C8B-B14F-4D97-AF65-F5344CB8AC3E}">
        <p14:creationId xmlns:p14="http://schemas.microsoft.com/office/powerpoint/2010/main" val="15448070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Methods in Linguistic Anthropology</a:t>
            </a:r>
            <a:endParaRPr lang="en-US" dirty="0"/>
          </a:p>
        </p:txBody>
      </p:sp>
      <p:sp>
        <p:nvSpPr>
          <p:cNvPr id="3" name="Content Placeholder 2"/>
          <p:cNvSpPr>
            <a:spLocks noGrp="1"/>
          </p:cNvSpPr>
          <p:nvPr>
            <p:ph idx="1"/>
          </p:nvPr>
        </p:nvSpPr>
        <p:spPr/>
        <p:txBody>
          <a:bodyPr>
            <a:normAutofit fontScale="77500" lnSpcReduction="20000"/>
          </a:bodyPr>
          <a:lstStyle/>
          <a:p>
            <a:pPr lvl="0"/>
            <a:r>
              <a:rPr lang="en-US" dirty="0"/>
              <a:t>sign language and spoken language</a:t>
            </a:r>
          </a:p>
          <a:p>
            <a:pPr marL="0" indent="0">
              <a:buNone/>
            </a:pPr>
            <a:endParaRPr lang="en-US" dirty="0"/>
          </a:p>
          <a:p>
            <a:pPr lvl="0"/>
            <a:r>
              <a:rPr lang="en-US" dirty="0"/>
              <a:t>Also - sections on phonology, grammar, and semantics.</a:t>
            </a:r>
          </a:p>
          <a:p>
            <a:pPr marL="0" indent="0">
              <a:buNone/>
            </a:pPr>
            <a:endParaRPr lang="en-US" dirty="0"/>
          </a:p>
          <a:p>
            <a:pPr lvl="0"/>
            <a:r>
              <a:rPr lang="en-US" dirty="0"/>
              <a:t>ethnographies of (</a:t>
            </a:r>
            <a:r>
              <a:rPr lang="en-US" dirty="0" err="1"/>
              <a:t>i</a:t>
            </a:r>
            <a:r>
              <a:rPr lang="en-US" dirty="0"/>
              <a:t>)  particular groups (e.g. weavers, tailors, drug addicts, doctors), (ii) activities (classroom interaction, musical performances, spirit possession, rites of passage), (iii) events (trials, political meetings, marriage ceremonies, gift exchanges), and (iv) social processes (socialization, acculturation, hospitalization, marginalization, institutionalization of certain practices).</a:t>
            </a:r>
          </a:p>
          <a:p>
            <a:pPr marL="0" indent="0">
              <a:buNone/>
            </a:pPr>
            <a:endParaRPr lang="en-US" dirty="0"/>
          </a:p>
          <a:p>
            <a:r>
              <a:rPr lang="en-US" dirty="0"/>
              <a:t>The linguistic anthropologist documents communicative behaviors across a range of interactions (including casual conversation, political and ceremonial events, theatrical representations, singing, mourning) and among particular groups of people (women, men, children, chiefs, commoners, priests, orators, doctors, etc.).</a:t>
            </a:r>
          </a:p>
        </p:txBody>
      </p:sp>
    </p:spTree>
    <p:extLst>
      <p:ext uri="{BB962C8B-B14F-4D97-AF65-F5344CB8AC3E}">
        <p14:creationId xmlns:p14="http://schemas.microsoft.com/office/powerpoint/2010/main" val="21459716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1162"/>
          </a:xfrm>
        </p:spPr>
        <p:txBody>
          <a:bodyPr>
            <a:normAutofit fontScale="90000"/>
          </a:bodyPr>
          <a:lstStyle/>
          <a:p>
            <a:pPr algn="ctr"/>
            <a:r>
              <a:rPr lang="en-US" b="1" dirty="0"/>
              <a:t>Methods in Linguistic Anthropology</a:t>
            </a:r>
            <a:endParaRPr lang="en-US" dirty="0"/>
          </a:p>
        </p:txBody>
      </p:sp>
      <p:sp>
        <p:nvSpPr>
          <p:cNvPr id="3" name="Content Placeholder 2"/>
          <p:cNvSpPr>
            <a:spLocks noGrp="1"/>
          </p:cNvSpPr>
          <p:nvPr>
            <p:ph idx="1"/>
          </p:nvPr>
        </p:nvSpPr>
        <p:spPr>
          <a:xfrm>
            <a:off x="838200" y="1173706"/>
            <a:ext cx="10515600" cy="5554640"/>
          </a:xfrm>
        </p:spPr>
        <p:txBody>
          <a:bodyPr>
            <a:noAutofit/>
          </a:bodyPr>
          <a:lstStyle/>
          <a:p>
            <a:pPr lvl="0"/>
            <a:r>
              <a:rPr lang="en-US" sz="2400" b="1" u="sng" dirty="0"/>
              <a:t>What linguistic anthropologists are interested in:</a:t>
            </a:r>
            <a:endParaRPr lang="en-US" sz="2400" dirty="0"/>
          </a:p>
          <a:p>
            <a:pPr marL="0" indent="0">
              <a:buNone/>
            </a:pPr>
            <a:r>
              <a:rPr lang="en-US" sz="2400" dirty="0" smtClean="0"/>
              <a:t>– </a:t>
            </a:r>
            <a:r>
              <a:rPr lang="en-US" sz="2400" dirty="0"/>
              <a:t>The basic organization of the relationship between sounds and meanings as revealed by actual language use in a variety of social activities and (if grammatical descriptions are already available) the extent to which previous grammatical descriptions reflect actual language use or only special, e.g. literacy-bound, </a:t>
            </a:r>
            <a:r>
              <a:rPr lang="en-US" sz="2400" dirty="0" smtClean="0"/>
              <a:t>uses</a:t>
            </a:r>
            <a:endParaRPr lang="en-US" sz="2400" dirty="0"/>
          </a:p>
          <a:p>
            <a:pPr marL="0" indent="0">
              <a:buNone/>
            </a:pPr>
            <a:r>
              <a:rPr lang="en-US" sz="2400" dirty="0"/>
              <a:t>– Local conceptualizations of what constitutes “language,” including characterizations of newborns’ and outsiders’ </a:t>
            </a:r>
            <a:r>
              <a:rPr lang="en-US" sz="2400" dirty="0" smtClean="0"/>
              <a:t>speech</a:t>
            </a:r>
            <a:endParaRPr lang="en-US" sz="2400" dirty="0"/>
          </a:p>
          <a:p>
            <a:pPr marL="0" indent="0">
              <a:buNone/>
            </a:pPr>
            <a:r>
              <a:rPr lang="en-US" sz="2400" dirty="0"/>
              <a:t>– The spatial distribution of language uses (e.g. is there a central place for public verbal performance, like the </a:t>
            </a:r>
            <a:r>
              <a:rPr lang="en-US" sz="2400" i="1" dirty="0" err="1"/>
              <a:t>marae</a:t>
            </a:r>
            <a:r>
              <a:rPr lang="en-US" sz="2400" i="1" dirty="0"/>
              <a:t> </a:t>
            </a:r>
            <a:r>
              <a:rPr lang="en-US" sz="2400" dirty="0"/>
              <a:t>in Ancient Polynesian societies or the “gathering house” among the Kuna? Are there differences in the ways language is used in different parts of a house</a:t>
            </a:r>
            <a:r>
              <a:rPr lang="en-US" sz="2400" dirty="0" smtClean="0"/>
              <a:t>?)</a:t>
            </a:r>
            <a:r>
              <a:rPr lang="en-US" sz="2400" dirty="0"/>
              <a:t> </a:t>
            </a:r>
          </a:p>
          <a:p>
            <a:pPr marL="0" indent="0">
              <a:buNone/>
            </a:pPr>
            <a:r>
              <a:rPr lang="en-US" sz="2400" dirty="0"/>
              <a:t>– The features and cultural significance of what is understood as ritual or ceremonial language vis-à-vis everyday </a:t>
            </a:r>
            <a:r>
              <a:rPr lang="en-US" sz="2400" dirty="0" smtClean="0"/>
              <a:t>speech</a:t>
            </a:r>
            <a:endParaRPr lang="en-US" sz="2400" dirty="0"/>
          </a:p>
        </p:txBody>
      </p:sp>
    </p:spTree>
    <p:extLst>
      <p:ext uri="{BB962C8B-B14F-4D97-AF65-F5344CB8AC3E}">
        <p14:creationId xmlns:p14="http://schemas.microsoft.com/office/powerpoint/2010/main" val="39132526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t>Methods in Linguistic Anthropology</a:t>
            </a:r>
            <a:endParaRPr lang="en-US" sz="4000" dirty="0"/>
          </a:p>
        </p:txBody>
      </p:sp>
      <p:sp>
        <p:nvSpPr>
          <p:cNvPr id="3" name="Content Placeholder 2"/>
          <p:cNvSpPr>
            <a:spLocks noGrp="1"/>
          </p:cNvSpPr>
          <p:nvPr>
            <p:ph idx="1"/>
          </p:nvPr>
        </p:nvSpPr>
        <p:spPr>
          <a:xfrm>
            <a:off x="838200" y="1825624"/>
            <a:ext cx="10515600" cy="4820835"/>
          </a:xfrm>
        </p:spPr>
        <p:txBody>
          <a:bodyPr>
            <a:normAutofit fontScale="70000" lnSpcReduction="20000"/>
          </a:bodyPr>
          <a:lstStyle/>
          <a:p>
            <a:pPr marL="0" indent="0">
              <a:buNone/>
            </a:pPr>
            <a:endParaRPr lang="en-US" dirty="0" smtClean="0"/>
          </a:p>
          <a:p>
            <a:pPr marL="0" indent="0">
              <a:buNone/>
            </a:pPr>
            <a:r>
              <a:rPr lang="en-US" sz="3800" dirty="0" smtClean="0"/>
              <a:t>– The social distribution of different styles, genres, and speech events (e.g. what are the ways in which different social groups mark themselves off through special linguistic registers or verbal performances?)</a:t>
            </a:r>
          </a:p>
          <a:p>
            <a:pPr marL="0" indent="0">
              <a:buNone/>
            </a:pPr>
            <a:endParaRPr lang="en-US" sz="3800" dirty="0" smtClean="0"/>
          </a:p>
          <a:p>
            <a:pPr marL="0" indent="0">
              <a:buNone/>
            </a:pPr>
            <a:r>
              <a:rPr lang="en-US" sz="3800" dirty="0" smtClean="0"/>
              <a:t>– The extent to which local theories of language structure and language use relate to local cosmologies</a:t>
            </a:r>
          </a:p>
          <a:p>
            <a:pPr marL="0" indent="0">
              <a:buNone/>
            </a:pPr>
            <a:r>
              <a:rPr lang="en-US" sz="3800" dirty="0" smtClean="0"/>
              <a:t> </a:t>
            </a:r>
            <a:endParaRPr lang="en-US" sz="3800" dirty="0"/>
          </a:p>
          <a:p>
            <a:pPr marL="0" indent="0">
              <a:buNone/>
            </a:pPr>
            <a:r>
              <a:rPr lang="en-US" sz="3800" dirty="0" smtClean="0"/>
              <a:t>– </a:t>
            </a:r>
            <a:r>
              <a:rPr lang="en-US" sz="3800" dirty="0"/>
              <a:t>The role of language socialization in the shaping of notions of person, mind, and social relations</a:t>
            </a:r>
          </a:p>
          <a:p>
            <a:pPr marL="0" indent="0">
              <a:buNone/>
            </a:pPr>
            <a:endParaRPr lang="en-US" sz="3800" dirty="0" smtClean="0"/>
          </a:p>
          <a:p>
            <a:pPr marL="0" indent="0">
              <a:buNone/>
            </a:pPr>
            <a:r>
              <a:rPr lang="en-US" sz="3800" dirty="0" smtClean="0"/>
              <a:t>– </a:t>
            </a:r>
            <a:r>
              <a:rPr lang="en-US" sz="3800" dirty="0"/>
              <a:t>The interpenetration of different codes (e.g. speech, gestures, clothes) in the constitution of messages and their interpretation. </a:t>
            </a:r>
          </a:p>
          <a:p>
            <a:pPr marL="0" indent="0">
              <a:buNone/>
            </a:pPr>
            <a:endParaRPr lang="en-US" dirty="0"/>
          </a:p>
        </p:txBody>
      </p:sp>
    </p:spTree>
    <p:extLst>
      <p:ext uri="{BB962C8B-B14F-4D97-AF65-F5344CB8AC3E}">
        <p14:creationId xmlns:p14="http://schemas.microsoft.com/office/powerpoint/2010/main" val="2777181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1256</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Methods in Linguistic Anthropology </vt:lpstr>
      <vt:lpstr>Methods in Linguistic Anthropology</vt:lpstr>
      <vt:lpstr>Methods in Linguistic Anthropology</vt:lpstr>
      <vt:lpstr>Methods in Linguistic Anthropology</vt:lpstr>
      <vt:lpstr>Methods in Linguistic Anthropology</vt:lpstr>
      <vt:lpstr>Methods in Linguistic Anthropology</vt:lpstr>
      <vt:lpstr>Methods in Linguistic Anthropology</vt:lpstr>
      <vt:lpstr>Methods in Linguistic Anthropology</vt:lpstr>
      <vt:lpstr>Methods in Linguistic Anthropology</vt:lpstr>
      <vt:lpstr>Methods in Linguistic Anthropology</vt:lpstr>
      <vt:lpstr>Methods in Linguistic Anthropology</vt:lpstr>
      <vt:lpstr>Methods in Linguistic Anthropology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 in Linguistic Anthropology </dc:title>
  <dc:creator>LENOVO</dc:creator>
  <cp:lastModifiedBy>LENOVO</cp:lastModifiedBy>
  <cp:revision>15</cp:revision>
  <dcterms:created xsi:type="dcterms:W3CDTF">2022-10-09T18:01:24Z</dcterms:created>
  <dcterms:modified xsi:type="dcterms:W3CDTF">2022-10-09T19:09:41Z</dcterms:modified>
</cp:coreProperties>
</file>